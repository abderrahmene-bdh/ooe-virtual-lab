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8" r:id="rId7"/>
    <p:sldId id="261" r:id="rId8"/>
    <p:sldId id="263" r:id="rId9"/>
    <p:sldId id="269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830"/>
    <a:srgbClr val="0D0B1E"/>
    <a:srgbClr val="FFA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879F2A-808A-4C66-9276-E4B6E3A30CA2}" v="52" dt="2026-03-02T10:32:07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10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13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D5305-30A7-BE13-AC9F-2E4F4C348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1752E-910A-A955-5D67-347706A34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1E3A8-5A35-B29D-9CC4-C8CA32338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FDF8F-9C16-792C-EAD3-0A26DE0F98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52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05BB-6145-51F0-10EA-9BCDDA16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ECF59-869B-3534-B29C-F7BDE08AF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041BE-97F3-1320-5CE1-DAD97A756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6F335-3815-DBDF-13EE-CE625E510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25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D4FEC-1424-AF79-F34B-44545AF8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EF0AD-EE6D-FD8A-2893-6E475395B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62BA9-2016-B855-C7EC-8ABB5DAD5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3BE47-70D6-1A27-7FBE-C080641CF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93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0">
            <a:extLst>
              <a:ext uri="{FF2B5EF4-FFF2-40B4-BE49-F238E27FC236}">
                <a16:creationId xmlns:a16="http://schemas.microsoft.com/office/drawing/2014/main" id="{439EF68D-EEB8-6236-201F-352B163B908B}"/>
              </a:ext>
            </a:extLst>
          </p:cNvPr>
          <p:cNvSpPr/>
          <p:nvPr/>
        </p:nvSpPr>
        <p:spPr>
          <a:xfrm>
            <a:off x="731520" y="1097280"/>
            <a:ext cx="7680960" cy="2194560"/>
          </a:xfrm>
          <a:prstGeom prst="rect">
            <a:avLst/>
          </a:prstGeom>
          <a:solidFill>
            <a:srgbClr val="0F0830">
              <a:alpha val="90000"/>
            </a:srgbClr>
          </a:solidFill>
          <a:ln w="25400">
            <a:solidFill>
              <a:srgbClr val="703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Shape 19"/>
          <p:cNvSpPr/>
          <p:nvPr/>
        </p:nvSpPr>
        <p:spPr>
          <a:xfrm>
            <a:off x="457200" y="41148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2D1F5E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457200" y="411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</a:rPr>
              <a:t>TRACK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799" y="114300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Laser Grid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2651760" y="2446021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855F7"/>
                </a:solidFill>
              </a:rPr>
              <a:t>Plane Mirrors &amp; Law of Reflection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680960" y="2560320"/>
            <a:ext cx="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9" name="Text 27"/>
          <p:cNvSpPr/>
          <p:nvPr/>
        </p:nvSpPr>
        <p:spPr>
          <a:xfrm>
            <a:off x="8229600" y="3017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108961" y="4366261"/>
            <a:ext cx="2926080" cy="502920"/>
          </a:xfrm>
          <a:prstGeom prst="rect">
            <a:avLst/>
          </a:prstGeom>
          <a:solidFill>
            <a:srgbClr val="1A0F3D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 dirty="0"/>
          </a:p>
        </p:txBody>
      </p:sp>
      <p:sp>
        <p:nvSpPr>
          <p:cNvPr id="31" name="Text 29"/>
          <p:cNvSpPr/>
          <p:nvPr/>
        </p:nvSpPr>
        <p:spPr>
          <a:xfrm>
            <a:off x="3108960" y="4366261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D9F3"/>
                </a:solidFill>
              </a:rPr>
              <a:t>Mission 1: Redirect the Beam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34840" y="4892040"/>
            <a:ext cx="228600" cy="2286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Text 19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Context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1E155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3" name="Shape 21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1A0A3D"/>
          </a:solidFill>
          <a:ln w="12700">
            <a:solidFill>
              <a:srgbClr val="1A0A3D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4" name="Text 2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D9F3"/>
                </a:solidFill>
              </a:rPr>
              <a:t>Mission 1: Redirect the Beam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A laser trips the alarm if broken. You must use two pocket mirrors to bounce the beam into a hidden override sensor — without triggering the alarms.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2606040"/>
            <a:ext cx="2697480" cy="228600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7" name="Text 25"/>
          <p:cNvSpPr/>
          <p:nvPr/>
        </p:nvSpPr>
        <p:spPr>
          <a:xfrm>
            <a:off x="365760" y="26517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65760" y="3246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63931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D9F3"/>
                </a:solidFill>
              </a:rPr>
              <a:t>Security laser must be redirected using exactly 2 plane mirrors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0" y="2606040"/>
            <a:ext cx="2697480" cy="228600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1" name="Text 29"/>
          <p:cNvSpPr/>
          <p:nvPr/>
        </p:nvSpPr>
        <p:spPr>
          <a:xfrm>
            <a:off x="3200400" y="26517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00400" y="3246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The Goal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363931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D9F3"/>
                </a:solidFill>
              </a:rPr>
              <a:t>Beam must reach the hidden override sensor without any alarm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2606040"/>
            <a:ext cx="2697480" cy="228600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5" name="Text 33"/>
          <p:cNvSpPr/>
          <p:nvPr/>
        </p:nvSpPr>
        <p:spPr>
          <a:xfrm>
            <a:off x="6035040" y="26517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035040" y="3246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The Tools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72200" y="363931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D9F3"/>
                </a:solidFill>
              </a:rPr>
              <a:t>Two pocket mirrors + the Law of Reflection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Text 19"/>
          <p:cNvSpPr/>
          <p:nvPr/>
        </p:nvSpPr>
        <p:spPr>
          <a:xfrm>
            <a:off x="365760" y="228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1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365760" y="914400"/>
            <a:ext cx="4937760" cy="128016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3" name="Text 21"/>
          <p:cNvSpPr/>
          <p:nvPr/>
        </p:nvSpPr>
        <p:spPr>
          <a:xfrm>
            <a:off x="548640" y="960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A security laser beam hits mirror M</a:t>
            </a:r>
            <a:r>
              <a:rPr lang="en-US" sz="1100" baseline="-750" dirty="0">
                <a:solidFill>
                  <a:srgbClr val="FFFFFF"/>
                </a:solidFill>
              </a:rPr>
              <a:t>1</a:t>
            </a:r>
            <a:r>
              <a:rPr lang="en-US" sz="1300" dirty="0">
                <a:solidFill>
                  <a:srgbClr val="FFFFFF"/>
                </a:solidFill>
              </a:rPr>
              <a:t> at an angle of incidence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59E0B"/>
                </a:solidFill>
              </a:rPr>
              <a:t>i</a:t>
            </a:r>
            <a:r>
              <a:rPr lang="en-US" sz="1100" baseline="-750" dirty="0">
                <a:solidFill>
                  <a:srgbClr val="F59E0B"/>
                </a:solidFill>
              </a:rPr>
              <a:t>₁</a:t>
            </a:r>
            <a:r>
              <a:rPr lang="en-US" sz="1300" b="1" dirty="0">
                <a:solidFill>
                  <a:srgbClr val="F59E0B"/>
                </a:solidFill>
              </a:rPr>
              <a:t> = 30°</a:t>
            </a:r>
            <a:r>
              <a:rPr lang="en-US" sz="1300" dirty="0">
                <a:solidFill>
                  <a:srgbClr val="FFFFFF"/>
                </a:solidFill>
              </a:rPr>
              <a:t>. Mirror M</a:t>
            </a:r>
            <a:r>
              <a:rPr lang="en-US" sz="1100" baseline="-750" dirty="0">
                <a:solidFill>
                  <a:srgbClr val="FFFFFF"/>
                </a:solidFill>
              </a:rPr>
              <a:t>2</a:t>
            </a:r>
            <a:r>
              <a:rPr lang="en-US" sz="1300" dirty="0">
                <a:solidFill>
                  <a:srgbClr val="FFFFFF"/>
                </a:solidFill>
              </a:rPr>
              <a:t> is perpendicular to M</a:t>
            </a:r>
            <a:r>
              <a:rPr lang="en-US" sz="1100" baseline="-750" dirty="0">
                <a:solidFill>
                  <a:srgbClr val="FFFFFF"/>
                </a:solidFill>
              </a:rPr>
              <a:t>1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313432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36576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2331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</a:rPr>
              <a:t>State the Law of Reflection.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980944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9" name="Text 27"/>
          <p:cNvSpPr/>
          <p:nvPr/>
        </p:nvSpPr>
        <p:spPr>
          <a:xfrm>
            <a:off x="36576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2999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</a:rPr>
              <a:t>Calculate the angle of reflection r₁ on mirror M₁.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648456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2" name="Text 30"/>
          <p:cNvSpPr/>
          <p:nvPr/>
        </p:nvSpPr>
        <p:spPr>
          <a:xfrm>
            <a:off x="365760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" y="36667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</a:rPr>
              <a:t>Determine the incidence angle i₂ on M₂ and the reflection angle r₂.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315968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5" name="Text 33"/>
          <p:cNvSpPr/>
          <p:nvPr/>
        </p:nvSpPr>
        <p:spPr>
          <a:xfrm>
            <a:off x="36576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" y="43342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</a:rPr>
              <a:t>Prove the final ray is parallel to the original but travels in the opposite direction.</a:t>
            </a:r>
            <a:endParaRPr lang="en-US" sz="1200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F650E7FD-2CAA-1CB5-4792-0850E355EFF9}"/>
              </a:ext>
            </a:extLst>
          </p:cNvPr>
          <p:cNvSpPr/>
          <p:nvPr/>
        </p:nvSpPr>
        <p:spPr>
          <a:xfrm>
            <a:off x="5532120" y="4217670"/>
            <a:ext cx="3200400" cy="0"/>
          </a:xfrm>
          <a:prstGeom prst="line">
            <a:avLst/>
          </a:prstGeom>
          <a:noFill/>
          <a:ln w="635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CE2844E0-7985-E5D7-5535-63D370F899BE}"/>
              </a:ext>
            </a:extLst>
          </p:cNvPr>
          <p:cNvSpPr/>
          <p:nvPr/>
        </p:nvSpPr>
        <p:spPr>
          <a:xfrm>
            <a:off x="5532120" y="925830"/>
            <a:ext cx="0" cy="3291840"/>
          </a:xfrm>
          <a:prstGeom prst="line">
            <a:avLst/>
          </a:prstGeom>
          <a:noFill/>
          <a:ln w="635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E268C3F0-2118-2DF2-5A7F-4B7174695111}"/>
              </a:ext>
            </a:extLst>
          </p:cNvPr>
          <p:cNvSpPr/>
          <p:nvPr/>
        </p:nvSpPr>
        <p:spPr>
          <a:xfrm>
            <a:off x="5577840" y="74295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M₂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F5051A28-BEF6-0B7E-FCC8-305109D1E656}"/>
              </a:ext>
            </a:extLst>
          </p:cNvPr>
          <p:cNvSpPr/>
          <p:nvPr/>
        </p:nvSpPr>
        <p:spPr>
          <a:xfrm>
            <a:off x="7178039" y="2334357"/>
            <a:ext cx="1" cy="1883313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</a:ln>
        </p:spPr>
        <p:txBody>
          <a:bodyPr/>
          <a:lstStyle/>
          <a:p>
            <a:endParaRPr lang="fr-DZ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3E7D69DD-67D9-7BF0-5DFB-3DD0D94A03FA}"/>
              </a:ext>
            </a:extLst>
          </p:cNvPr>
          <p:cNvSpPr/>
          <p:nvPr/>
        </p:nvSpPr>
        <p:spPr>
          <a:xfrm>
            <a:off x="5532120" y="2480310"/>
            <a:ext cx="1828800" cy="0"/>
          </a:xfrm>
          <a:prstGeom prst="line">
            <a:avLst/>
          </a:prstGeom>
          <a:noFill/>
          <a:ln w="19050">
            <a:solidFill>
              <a:srgbClr val="FFD700"/>
            </a:solidFill>
            <a:prstDash val="dash"/>
          </a:ln>
        </p:spPr>
        <p:txBody>
          <a:bodyPr/>
          <a:lstStyle/>
          <a:p>
            <a:endParaRPr lang="fr-DZ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AFE5D27D-4982-373A-A280-6EDA856583AB}"/>
              </a:ext>
            </a:extLst>
          </p:cNvPr>
          <p:cNvSpPr/>
          <p:nvPr/>
        </p:nvSpPr>
        <p:spPr>
          <a:xfrm>
            <a:off x="5532120" y="2480310"/>
            <a:ext cx="1645920" cy="173736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  <a:effectLst>
            <a:glow rad="63500">
              <a:srgbClr val="EFCB03">
                <a:alpha val="55000"/>
              </a:srgbClr>
            </a:glow>
          </a:effectLst>
        </p:spPr>
        <p:txBody>
          <a:bodyPr/>
          <a:lstStyle/>
          <a:p>
            <a:endParaRPr lang="fr-DZ"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294C3FD5-56DE-4238-CA23-D7AC833D04F5}"/>
              </a:ext>
            </a:extLst>
          </p:cNvPr>
          <p:cNvSpPr/>
          <p:nvPr/>
        </p:nvSpPr>
        <p:spPr>
          <a:xfrm flipV="1">
            <a:off x="5532120" y="925830"/>
            <a:ext cx="1645920" cy="155448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  <a:effectLst>
            <a:glow rad="63500">
              <a:srgbClr val="04A65E">
                <a:alpha val="55000"/>
              </a:srgbClr>
            </a:glow>
          </a:effectLst>
        </p:spPr>
        <p:txBody>
          <a:bodyPr/>
          <a:lstStyle/>
          <a:p>
            <a:endParaRPr lang="fr-DZ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95B0ACBC-5A0E-1F91-6D47-3F526F9FC7CB}"/>
              </a:ext>
            </a:extLst>
          </p:cNvPr>
          <p:cNvSpPr/>
          <p:nvPr/>
        </p:nvSpPr>
        <p:spPr>
          <a:xfrm>
            <a:off x="6688452" y="35308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r₁=30°</a:t>
            </a:r>
            <a:endParaRPr lang="en-US" sz="1100" dirty="0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CC265490-9F07-421C-B2E4-C2325DB81092}"/>
              </a:ext>
            </a:extLst>
          </p:cNvPr>
          <p:cNvSpPr/>
          <p:nvPr/>
        </p:nvSpPr>
        <p:spPr>
          <a:xfrm>
            <a:off x="5846445" y="25261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i₂=60°</a:t>
            </a:r>
            <a:endParaRPr lang="en-US" sz="1100" dirty="0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1BEC9D3B-27B1-E5AE-3F67-43C545ED81C6}"/>
              </a:ext>
            </a:extLst>
          </p:cNvPr>
          <p:cNvSpPr/>
          <p:nvPr/>
        </p:nvSpPr>
        <p:spPr>
          <a:xfrm>
            <a:off x="5833299" y="217433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r₂=60°</a:t>
            </a:r>
            <a:endParaRPr lang="en-US" sz="11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DDE5BDD5-D25F-6AE9-B33E-6DAFDB98C14C}"/>
              </a:ext>
            </a:extLst>
          </p:cNvPr>
          <p:cNvSpPr/>
          <p:nvPr/>
        </p:nvSpPr>
        <p:spPr>
          <a:xfrm>
            <a:off x="7223760" y="248031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3300"/>
                </a:solidFill>
              </a:rPr>
              <a:t>Normal M₁</a:t>
            </a:r>
            <a:endParaRPr lang="en-US" sz="900" dirty="0"/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881F8105-B6C2-250F-5F3E-CC124D887C5C}"/>
              </a:ext>
            </a:extLst>
          </p:cNvPr>
          <p:cNvSpPr/>
          <p:nvPr/>
        </p:nvSpPr>
        <p:spPr>
          <a:xfrm>
            <a:off x="6263640" y="225171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</a:rPr>
              <a:t>Normal M₂</a:t>
            </a:r>
            <a:endParaRPr lang="en-US" sz="900" dirty="0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E2B34F09-4D97-A023-AA0F-4A66F8BC23FA}"/>
              </a:ext>
            </a:extLst>
          </p:cNvPr>
          <p:cNvSpPr/>
          <p:nvPr/>
        </p:nvSpPr>
        <p:spPr>
          <a:xfrm flipH="1">
            <a:off x="7145653" y="2649123"/>
            <a:ext cx="1861181" cy="1568544"/>
          </a:xfrm>
          <a:prstGeom prst="line">
            <a:avLst/>
          </a:prstGeom>
          <a:noFill/>
          <a:ln w="38100">
            <a:solidFill>
              <a:srgbClr val="FF3300"/>
            </a:solidFill>
            <a:prstDash val="solid"/>
          </a:ln>
          <a:effectLst>
            <a:glow rad="63500">
              <a:srgbClr val="C00000">
                <a:alpha val="55000"/>
              </a:srgbClr>
            </a:glow>
          </a:effectLst>
        </p:spPr>
        <p:txBody>
          <a:bodyPr/>
          <a:lstStyle/>
          <a:p>
            <a:endParaRPr lang="fr-DZ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FF40F6BC-C3B8-2FB4-AFE7-85F4B36AD680}"/>
              </a:ext>
            </a:extLst>
          </p:cNvPr>
          <p:cNvSpPr/>
          <p:nvPr/>
        </p:nvSpPr>
        <p:spPr>
          <a:xfrm>
            <a:off x="7218678" y="35155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300"/>
                </a:solidFill>
              </a:rPr>
              <a:t>i₁=30°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Shape 19"/>
          <p:cNvSpPr/>
          <p:nvPr/>
        </p:nvSpPr>
        <p:spPr>
          <a:xfrm>
            <a:off x="320040" y="201168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Law of Reflection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365760" y="868680"/>
            <a:ext cx="5029200" cy="1005840"/>
          </a:xfrm>
          <a:prstGeom prst="rect">
            <a:avLst/>
          </a:prstGeom>
          <a:solidFill>
            <a:srgbClr val="1E1550"/>
          </a:solidFill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5" name="Shape 23"/>
          <p:cNvSpPr/>
          <p:nvPr/>
        </p:nvSpPr>
        <p:spPr>
          <a:xfrm>
            <a:off x="365760" y="868680"/>
            <a:ext cx="91440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6" name="Text 24"/>
          <p:cNvSpPr/>
          <p:nvPr/>
        </p:nvSpPr>
        <p:spPr>
          <a:xfrm>
            <a:off x="594360" y="9144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The angle of incidence equals the angle of reflection, both measured from the normal to the reflecting surface.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2011680"/>
            <a:ext cx="5029200" cy="777240"/>
          </a:xfrm>
          <a:prstGeom prst="rect">
            <a:avLst/>
          </a:prstGeom>
          <a:solidFill>
            <a:srgbClr val="0F08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8" name="Text 26"/>
          <p:cNvSpPr/>
          <p:nvPr/>
        </p:nvSpPr>
        <p:spPr>
          <a:xfrm>
            <a:off x="365760" y="2011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θᵢ  =  θᵣ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384048" y="3017520"/>
            <a:ext cx="13716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0" name="Text 28"/>
          <p:cNvSpPr/>
          <p:nvPr/>
        </p:nvSpPr>
        <p:spPr>
          <a:xfrm>
            <a:off x="658368" y="29260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D9F3"/>
                </a:solidFill>
              </a:rPr>
              <a:t>θᵢ  = angle of incidence (from normal)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" y="3410712"/>
            <a:ext cx="13716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2" name="Text 30"/>
          <p:cNvSpPr/>
          <p:nvPr/>
        </p:nvSpPr>
        <p:spPr>
          <a:xfrm>
            <a:off x="658368" y="33192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D9F3"/>
                </a:solidFill>
              </a:rPr>
              <a:t>θᵣ  = angle of reflection (from normal)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84048" y="3803904"/>
            <a:ext cx="13716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4" name="Text 32"/>
          <p:cNvSpPr/>
          <p:nvPr/>
        </p:nvSpPr>
        <p:spPr>
          <a:xfrm>
            <a:off x="658368" y="371246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D9F3"/>
                </a:solidFill>
              </a:rPr>
              <a:t>Both angles on the same side of the normal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4048" y="4197096"/>
            <a:ext cx="13716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6" name="Text 34"/>
          <p:cNvSpPr/>
          <p:nvPr/>
        </p:nvSpPr>
        <p:spPr>
          <a:xfrm>
            <a:off x="658368" y="41056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D9F3"/>
                </a:solidFill>
              </a:rPr>
              <a:t>Applies to any flat (plane) mirror surface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60720" y="3931920"/>
            <a:ext cx="310896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8" name="Shape 36"/>
          <p:cNvSpPr/>
          <p:nvPr/>
        </p:nvSpPr>
        <p:spPr>
          <a:xfrm>
            <a:off x="7315200" y="22860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9" name="Shape 37"/>
          <p:cNvSpPr/>
          <p:nvPr/>
        </p:nvSpPr>
        <p:spPr>
          <a:xfrm>
            <a:off x="7315200" y="25146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0" name="Shape 38"/>
          <p:cNvSpPr/>
          <p:nvPr/>
        </p:nvSpPr>
        <p:spPr>
          <a:xfrm>
            <a:off x="7315200" y="27432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1" name="Shape 39"/>
          <p:cNvSpPr/>
          <p:nvPr/>
        </p:nvSpPr>
        <p:spPr>
          <a:xfrm>
            <a:off x="7315200" y="29718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2" name="Shape 40"/>
          <p:cNvSpPr/>
          <p:nvPr/>
        </p:nvSpPr>
        <p:spPr>
          <a:xfrm>
            <a:off x="7315200" y="32004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3" name="Shape 41"/>
          <p:cNvSpPr/>
          <p:nvPr/>
        </p:nvSpPr>
        <p:spPr>
          <a:xfrm>
            <a:off x="7315200" y="34290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4" name="Shape 42"/>
          <p:cNvSpPr/>
          <p:nvPr/>
        </p:nvSpPr>
        <p:spPr>
          <a:xfrm>
            <a:off x="7315200" y="36576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5" name="Shape 43"/>
          <p:cNvSpPr/>
          <p:nvPr/>
        </p:nvSpPr>
        <p:spPr>
          <a:xfrm>
            <a:off x="7315200" y="3886200"/>
            <a:ext cx="0" cy="13716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6" name="Text 44"/>
          <p:cNvSpPr/>
          <p:nvPr/>
        </p:nvSpPr>
        <p:spPr>
          <a:xfrm>
            <a:off x="7360920" y="2103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</a:rPr>
              <a:t>Normal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2377440"/>
            <a:ext cx="1280160" cy="15544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9" name="Shape 47"/>
          <p:cNvSpPr/>
          <p:nvPr/>
        </p:nvSpPr>
        <p:spPr>
          <a:xfrm flipV="1">
            <a:off x="7338060" y="2404872"/>
            <a:ext cx="1292399" cy="152688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1" name="Text 49"/>
          <p:cNvSpPr/>
          <p:nvPr/>
        </p:nvSpPr>
        <p:spPr>
          <a:xfrm>
            <a:off x="6926580" y="32159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θᵢ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49490" y="32159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θᵣ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00800" y="4114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</a:rPr>
              <a:t>θᵢ = θᵣ</a:t>
            </a:r>
            <a:endParaRPr lang="en-US" sz="14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4BF48468-6042-F928-8F40-753F036DF477}"/>
              </a:ext>
            </a:extLst>
          </p:cNvPr>
          <p:cNvSpPr/>
          <p:nvPr/>
        </p:nvSpPr>
        <p:spPr>
          <a:xfrm>
            <a:off x="5632703" y="20194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80C"/>
                </a:solidFill>
              </a:rPr>
              <a:t>Incident Ray</a:t>
            </a:r>
            <a:endParaRPr lang="en-US" sz="1100" dirty="0">
              <a:solidFill>
                <a:srgbClr val="FFA80C"/>
              </a:solidFill>
            </a:endParaRPr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0F12D20A-5247-981E-D634-682F75469536}"/>
              </a:ext>
            </a:extLst>
          </p:cNvPr>
          <p:cNvSpPr/>
          <p:nvPr/>
        </p:nvSpPr>
        <p:spPr>
          <a:xfrm>
            <a:off x="8122917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Reflected Ray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 animBg="1"/>
      <p:bldP spid="57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6B616-8967-2D83-8F06-D8ECDC59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5AA82C-B62C-0CA3-383E-2F4202501FA0}"/>
              </a:ext>
            </a:extLst>
          </p:cNvPr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2971B9-AAB9-9D27-D976-ED761CC49420}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D548EE-51DC-AFF5-F86F-FAF8D6E5FF7D}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ED985B-2C8D-6608-2ECB-75D5627D2D88}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9EEA104-0BE5-4ED9-375F-5AE14D3B4583}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E537770-8A93-AD5E-0389-8061D9A62FC0}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4945B7-9AF8-1172-D9BD-84F55E4820E2}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D7CAE71-CEEB-45E2-EE93-A8202B430EE2}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C08733-B2D4-8A49-E8F4-8EB7247C07E5}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D88A4AA-327E-FF3F-B59C-B92AEAB5E9E6}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C5A3068-980E-83D5-C19E-C27AE14E46A7}"/>
              </a:ext>
            </a:extLst>
          </p:cNvPr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63D11C3-558D-1454-FB35-ABD31BEC70E7}"/>
              </a:ext>
            </a:extLst>
          </p:cNvPr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7F9F744-4412-E95B-C00D-D00CEA318846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692EEFC-CA9A-3F8E-F9CB-A5951BF32D01}"/>
              </a:ext>
            </a:extLst>
          </p:cNvPr>
          <p:cNvSpPr/>
          <p:nvPr/>
        </p:nvSpPr>
        <p:spPr>
          <a:xfrm>
            <a:off x="320040" y="201168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C84E02E-71EE-18E3-986A-68226E4D1D8F}"/>
              </a:ext>
            </a:extLst>
          </p:cNvPr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BE9A3B0-DBA8-F7C1-1208-2E12C265FF75}"/>
              </a:ext>
            </a:extLst>
          </p:cNvPr>
          <p:cNvSpPr/>
          <p:nvPr/>
        </p:nvSpPr>
        <p:spPr>
          <a:xfrm>
            <a:off x="822960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Law of Reflection</a:t>
            </a:r>
            <a:endParaRPr lang="en-US" sz="300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9F44B9F4-227A-B30D-C5AD-5E99398F4B20}"/>
              </a:ext>
            </a:extLst>
          </p:cNvPr>
          <p:cNvSpPr/>
          <p:nvPr/>
        </p:nvSpPr>
        <p:spPr>
          <a:xfrm>
            <a:off x="365760" y="777240"/>
            <a:ext cx="3657600" cy="1371600"/>
          </a:xfrm>
          <a:prstGeom prst="rect">
            <a:avLst/>
          </a:prstGeom>
          <a:solidFill>
            <a:srgbClr val="0F0830"/>
          </a:solidFill>
          <a:ln w="1905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76A022C3-3248-AFCE-9652-1B101EB7DA98}"/>
              </a:ext>
            </a:extLst>
          </p:cNvPr>
          <p:cNvSpPr/>
          <p:nvPr/>
        </p:nvSpPr>
        <p:spPr>
          <a:xfrm>
            <a:off x="365760" y="777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</a:rPr>
              <a:t>GIVEN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A097D016-2769-F6D7-1301-8C6DE09F7BF7}"/>
              </a:ext>
            </a:extLst>
          </p:cNvPr>
          <p:cNvSpPr/>
          <p:nvPr/>
        </p:nvSpPr>
        <p:spPr>
          <a:xfrm>
            <a:off x="548640" y="117043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E0F5"/>
                </a:solidFill>
              </a:rPr>
              <a:t>• Incidence angle on M₁: </a:t>
            </a:r>
            <a:r>
              <a:rPr lang="en-US" sz="1300" b="1" dirty="0">
                <a:solidFill>
                  <a:srgbClr val="00E676"/>
                </a:solidFill>
              </a:rPr>
              <a:t>i₁ = 30°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E0F5"/>
                </a:solidFill>
              </a:rPr>
              <a:t>• M₂ is perpendicular to M₁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E0F5"/>
                </a:solidFill>
              </a:rPr>
              <a:t>• Find: r₁, i₂, r₂</a:t>
            </a:r>
            <a:endParaRPr lang="en-US" sz="1300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9771DE28-2BE8-557B-4BCA-2DE8B2C9310A}"/>
              </a:ext>
            </a:extLst>
          </p:cNvPr>
          <p:cNvSpPr/>
          <p:nvPr/>
        </p:nvSpPr>
        <p:spPr>
          <a:xfrm>
            <a:off x="365760" y="2331720"/>
            <a:ext cx="3657600" cy="2468880"/>
          </a:xfrm>
          <a:prstGeom prst="rect">
            <a:avLst/>
          </a:prstGeom>
          <a:solidFill>
            <a:srgbClr val="0F0830"/>
          </a:solidFill>
          <a:ln w="1905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AE29A404-1068-EBEA-44DE-C2C02A9C2449}"/>
              </a:ext>
            </a:extLst>
          </p:cNvPr>
          <p:cNvSpPr/>
          <p:nvPr/>
        </p:nvSpPr>
        <p:spPr>
          <a:xfrm>
            <a:off x="36576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</a:rPr>
              <a:t>SOLUTION – M₁</a:t>
            </a:r>
            <a:endParaRPr lang="en-US" sz="120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0AFE0331-4CD7-4B65-EF75-9CCDDE9FDA64}"/>
              </a:ext>
            </a:extLst>
          </p:cNvPr>
          <p:cNvSpPr/>
          <p:nvPr/>
        </p:nvSpPr>
        <p:spPr>
          <a:xfrm>
            <a:off x="548640" y="274320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C6FF"/>
                </a:solidFill>
              </a:rPr>
              <a:t>Step 1: Apply Law of Reflection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D700"/>
                </a:solidFill>
              </a:rPr>
              <a:t>   θᵢ = θᵣ  →  r₁ = i₁ = 30°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C6FF"/>
                </a:solidFill>
              </a:rPr>
              <a:t>Step 2: Angle of reflected beam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 Beam travels at 30° from normal of M₁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 = 60° from the mirror surface itself</a:t>
            </a:r>
            <a:endParaRPr lang="en-US" sz="1200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35CA2043-CE33-A274-CC99-32D72BB3920C}"/>
              </a:ext>
            </a:extLst>
          </p:cNvPr>
          <p:cNvSpPr/>
          <p:nvPr/>
        </p:nvSpPr>
        <p:spPr>
          <a:xfrm>
            <a:off x="4572000" y="3329940"/>
            <a:ext cx="3657600" cy="0"/>
          </a:xfrm>
          <a:prstGeom prst="line">
            <a:avLst/>
          </a:prstGeom>
          <a:noFill/>
          <a:ln w="635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3875AD5C-A7D1-D4AE-4D10-257897DC54A3}"/>
              </a:ext>
            </a:extLst>
          </p:cNvPr>
          <p:cNvSpPr/>
          <p:nvPr/>
        </p:nvSpPr>
        <p:spPr>
          <a:xfrm>
            <a:off x="8046720" y="32842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</a:rPr>
              <a:t>M₁</a:t>
            </a:r>
            <a:endParaRPr lang="en-US" sz="1400" dirty="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07E5D1EA-F4F3-9710-94A4-97F6293557A8}"/>
              </a:ext>
            </a:extLst>
          </p:cNvPr>
          <p:cNvSpPr/>
          <p:nvPr/>
        </p:nvSpPr>
        <p:spPr>
          <a:xfrm>
            <a:off x="6400800" y="1775460"/>
            <a:ext cx="0" cy="155448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fr-DZ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836BA847-C431-D19A-8690-ABCD533AA24F}"/>
              </a:ext>
            </a:extLst>
          </p:cNvPr>
          <p:cNvSpPr/>
          <p:nvPr/>
        </p:nvSpPr>
        <p:spPr>
          <a:xfrm>
            <a:off x="6492240" y="18669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Normal</a:t>
            </a:r>
            <a:endParaRPr lang="en-US" sz="1000" dirty="0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7A0675F2-2F8A-8C36-ED40-375775724216}"/>
              </a:ext>
            </a:extLst>
          </p:cNvPr>
          <p:cNvSpPr/>
          <p:nvPr/>
        </p:nvSpPr>
        <p:spPr>
          <a:xfrm>
            <a:off x="5120640" y="1821180"/>
            <a:ext cx="1280160" cy="1508760"/>
          </a:xfrm>
          <a:prstGeom prst="line">
            <a:avLst/>
          </a:prstGeom>
          <a:noFill/>
          <a:ln w="38100">
            <a:solidFill>
              <a:srgbClr val="FF3300"/>
            </a:solidFill>
            <a:prstDash val="solid"/>
          </a:ln>
          <a:effectLst>
            <a:glow rad="63500">
              <a:srgbClr val="C00000">
                <a:alpha val="55000"/>
              </a:srgbClr>
            </a:glo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4E742C24-6722-6DE9-67FB-F5ACF3027E50}"/>
              </a:ext>
            </a:extLst>
          </p:cNvPr>
          <p:cNvSpPr/>
          <p:nvPr/>
        </p:nvSpPr>
        <p:spPr>
          <a:xfrm>
            <a:off x="4663440" y="1684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300"/>
                </a:solidFill>
              </a:rPr>
              <a:t>Laser</a:t>
            </a:r>
            <a:endParaRPr lang="en-US" sz="1100" dirty="0"/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56645833-8C52-84AF-085E-3E6839BDC00B}"/>
              </a:ext>
            </a:extLst>
          </p:cNvPr>
          <p:cNvSpPr/>
          <p:nvPr/>
        </p:nvSpPr>
        <p:spPr>
          <a:xfrm>
            <a:off x="5897881" y="2515773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300"/>
                </a:solidFill>
              </a:rPr>
              <a:t>i₁=30°</a:t>
            </a:r>
            <a:endParaRPr lang="en-US" sz="1200" dirty="0"/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5FED5C98-2458-D833-D8F5-EAB70688F7E2}"/>
              </a:ext>
            </a:extLst>
          </p:cNvPr>
          <p:cNvSpPr/>
          <p:nvPr/>
        </p:nvSpPr>
        <p:spPr>
          <a:xfrm flipV="1">
            <a:off x="6400800" y="1775460"/>
            <a:ext cx="1280160" cy="155448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  <a:effectLst>
            <a:glow rad="63500">
              <a:srgbClr val="EFCB03">
                <a:alpha val="55000"/>
              </a:srgbClr>
            </a:glow>
          </a:effectLst>
        </p:spPr>
        <p:txBody>
          <a:bodyPr/>
          <a:lstStyle/>
          <a:p>
            <a:endParaRPr lang="fr-DZ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ED8EFE84-EB2E-9493-5FC4-7CC33913F322}"/>
              </a:ext>
            </a:extLst>
          </p:cNvPr>
          <p:cNvSpPr/>
          <p:nvPr/>
        </p:nvSpPr>
        <p:spPr>
          <a:xfrm>
            <a:off x="6400799" y="2508739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</a:rPr>
              <a:t>r₁=30°</a:t>
            </a:r>
            <a:endParaRPr lang="en-US" sz="1200" dirty="0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347D563F-CCF1-7D01-8467-9A9E2B341A26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3377136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BE760-C928-D74E-86A4-6626C205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3B7E51-BD6E-ECEA-43E3-E582876E21D8}"/>
              </a:ext>
            </a:extLst>
          </p:cNvPr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0A49ED-EE52-3ADD-81BF-450E64C35B0C}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05010A-0151-0458-A1C7-8619D061E09D}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9C1C4A-A69F-8F1F-FDD1-2CE188C91C76}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716745-E1C9-E3C7-A07A-44CFFBF7E1D6}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FA05D4-C0E2-75DF-9B5F-78734BEB1FDC}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E9B5923-9374-BC03-1F9F-04DFBB5A9364}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3C180F5-46B6-E9D5-8A46-E2F4D3C316C7}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ADA3FE2-57E9-FEF3-A8B8-010D2F8AC5EB}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6F1DAC7-2D8A-1D25-597A-ECE6718D963F}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CA39970-6873-CB62-22C3-3B7BC85253A4}"/>
              </a:ext>
            </a:extLst>
          </p:cNvPr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0263BA4-4213-28B2-09E2-F94B8E83626C}"/>
              </a:ext>
            </a:extLst>
          </p:cNvPr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78FC4B1-49AF-D4D0-E9BA-E82E451361C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C5D6848-B658-5086-7DCE-F9B5B0AFE5F6}"/>
              </a:ext>
            </a:extLst>
          </p:cNvPr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Calculations</a:t>
            </a:r>
            <a:endParaRPr lang="en-US" sz="3200" dirty="0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08F98234-B9F5-A4E8-D31F-A9EB532D277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1AA382CD-F8F4-91D5-8E61-E8B128BA18CA}"/>
              </a:ext>
            </a:extLst>
          </p:cNvPr>
          <p:cNvSpPr/>
          <p:nvPr/>
        </p:nvSpPr>
        <p:spPr>
          <a:xfrm>
            <a:off x="365760" y="777240"/>
            <a:ext cx="4114800" cy="4174588"/>
          </a:xfrm>
          <a:prstGeom prst="rect">
            <a:avLst/>
          </a:prstGeom>
          <a:solidFill>
            <a:srgbClr val="0F0830"/>
          </a:solidFill>
          <a:ln w="1905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5000E02B-EC2C-2D44-164D-EEFF9AFD4E6E}"/>
              </a:ext>
            </a:extLst>
          </p:cNvPr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GEOMETRY ANALYSIS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B3C9400B-137B-B7E8-FC7B-B0D40C175F46}"/>
              </a:ext>
            </a:extLst>
          </p:cNvPr>
          <p:cNvSpPr/>
          <p:nvPr/>
        </p:nvSpPr>
        <p:spPr>
          <a:xfrm>
            <a:off x="548640" y="123444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700"/>
                </a:solidFill>
              </a:rPr>
              <a:t>Since M₁ ⊥ M₂ (perpendicular mirrors):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The normals of M₁ and M₂ are also perpendicular.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E0F5"/>
                </a:solidFill>
              </a:rPr>
              <a:t>In the triangle formed by the: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3300"/>
                </a:solidFill>
              </a:rPr>
              <a:t>• normal of M₁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D700"/>
                </a:solidFill>
              </a:rPr>
              <a:t>• normal of M₂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FFD700"/>
                </a:solidFill>
              </a:rPr>
              <a:t>• reflected beam from M₁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E676"/>
                </a:solidFill>
              </a:rPr>
              <a:t>Sum of angles in triangle = 180°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90° + r₁ + i₂ = 180°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90° + 30° + i₂ = 180°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E676"/>
                </a:solidFill>
              </a:rPr>
              <a:t>i₂ = 60°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700"/>
                </a:solidFill>
              </a:rPr>
              <a:t>By Law of Reflection: r₂ = i₂ = 60°</a:t>
            </a:r>
            <a:endParaRPr lang="en-US" sz="1200" dirty="0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0F5ECB98-C066-5CDA-EA96-31ACC94742E4}"/>
              </a:ext>
            </a:extLst>
          </p:cNvPr>
          <p:cNvSpPr/>
          <p:nvPr/>
        </p:nvSpPr>
        <p:spPr>
          <a:xfrm>
            <a:off x="4754880" y="4297680"/>
            <a:ext cx="3200400" cy="0"/>
          </a:xfrm>
          <a:prstGeom prst="line">
            <a:avLst/>
          </a:prstGeom>
          <a:noFill/>
          <a:ln w="635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A7BEFDCC-AE26-A1E2-C449-FF0703B819FC}"/>
              </a:ext>
            </a:extLst>
          </p:cNvPr>
          <p:cNvSpPr/>
          <p:nvPr/>
        </p:nvSpPr>
        <p:spPr>
          <a:xfrm>
            <a:off x="7852410" y="431315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M₁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89E737D0-EB53-C99D-858C-C1F350B4D3C6}"/>
              </a:ext>
            </a:extLst>
          </p:cNvPr>
          <p:cNvSpPr/>
          <p:nvPr/>
        </p:nvSpPr>
        <p:spPr>
          <a:xfrm>
            <a:off x="4754880" y="1005840"/>
            <a:ext cx="0" cy="3291840"/>
          </a:xfrm>
          <a:prstGeom prst="line">
            <a:avLst/>
          </a:prstGeom>
          <a:noFill/>
          <a:ln w="635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9FBD89AA-D99F-DA00-6D3C-F1AE7EF03F48}"/>
              </a:ext>
            </a:extLst>
          </p:cNvPr>
          <p:cNvSpPr/>
          <p:nvPr/>
        </p:nvSpPr>
        <p:spPr>
          <a:xfrm>
            <a:off x="4800600" y="822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M₂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6726D870-E959-64DA-B6B0-0199C15242B4}"/>
              </a:ext>
            </a:extLst>
          </p:cNvPr>
          <p:cNvSpPr/>
          <p:nvPr/>
        </p:nvSpPr>
        <p:spPr>
          <a:xfrm>
            <a:off x="6400799" y="2414367"/>
            <a:ext cx="1" cy="1883313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</a:ln>
        </p:spPr>
        <p:txBody>
          <a:bodyPr/>
          <a:lstStyle/>
          <a:p>
            <a:endParaRPr lang="fr-DZ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9135EB19-E682-7E7A-4CCE-9C98C086942C}"/>
              </a:ext>
            </a:extLst>
          </p:cNvPr>
          <p:cNvSpPr/>
          <p:nvPr/>
        </p:nvSpPr>
        <p:spPr>
          <a:xfrm>
            <a:off x="4754880" y="2560320"/>
            <a:ext cx="1828800" cy="0"/>
          </a:xfrm>
          <a:prstGeom prst="line">
            <a:avLst/>
          </a:prstGeom>
          <a:noFill/>
          <a:ln w="19050">
            <a:solidFill>
              <a:srgbClr val="FFD700"/>
            </a:solidFill>
            <a:prstDash val="dash"/>
          </a:ln>
        </p:spPr>
        <p:txBody>
          <a:bodyPr/>
          <a:lstStyle/>
          <a:p>
            <a:endParaRPr lang="fr-DZ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BDBA213D-FAA5-9DB8-CE74-481E1B34B794}"/>
              </a:ext>
            </a:extLst>
          </p:cNvPr>
          <p:cNvSpPr/>
          <p:nvPr/>
        </p:nvSpPr>
        <p:spPr>
          <a:xfrm>
            <a:off x="4754880" y="2560320"/>
            <a:ext cx="1645920" cy="173736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  <a:effectLst>
            <a:glow rad="63500">
              <a:srgbClr val="EFCB03">
                <a:alpha val="55000"/>
              </a:srgbClr>
            </a:glow>
          </a:effectLst>
        </p:spPr>
        <p:txBody>
          <a:bodyPr/>
          <a:lstStyle/>
          <a:p>
            <a:endParaRPr lang="fr-DZ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5CBEC525-9AAF-E58C-DDF3-9018D5A51150}"/>
              </a:ext>
            </a:extLst>
          </p:cNvPr>
          <p:cNvSpPr/>
          <p:nvPr/>
        </p:nvSpPr>
        <p:spPr>
          <a:xfrm flipV="1">
            <a:off x="4754880" y="1005840"/>
            <a:ext cx="1645920" cy="155448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  <a:effectLst>
            <a:glow rad="63500">
              <a:srgbClr val="04A65E">
                <a:alpha val="55000"/>
              </a:srgbClr>
            </a:glow>
          </a:effectLst>
        </p:spPr>
        <p:txBody>
          <a:bodyPr/>
          <a:lstStyle/>
          <a:p>
            <a:endParaRPr lang="fr-DZ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3D4CA213-8A23-64C2-6FD9-11705710D617}"/>
              </a:ext>
            </a:extLst>
          </p:cNvPr>
          <p:cNvSpPr/>
          <p:nvPr/>
        </p:nvSpPr>
        <p:spPr>
          <a:xfrm>
            <a:off x="5911212" y="361082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r₁=30°</a:t>
            </a:r>
            <a:endParaRPr lang="en-US" sz="1100" dirty="0"/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716B3003-B168-20E8-65D4-DEF5B71757A0}"/>
              </a:ext>
            </a:extLst>
          </p:cNvPr>
          <p:cNvSpPr/>
          <p:nvPr/>
        </p:nvSpPr>
        <p:spPr>
          <a:xfrm>
            <a:off x="5069205" y="260615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i₂=60°</a:t>
            </a:r>
            <a:endParaRPr lang="en-US" sz="1100" dirty="0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510BF744-9209-8E41-1170-6395993787CD}"/>
              </a:ext>
            </a:extLst>
          </p:cNvPr>
          <p:cNvSpPr/>
          <p:nvPr/>
        </p:nvSpPr>
        <p:spPr>
          <a:xfrm>
            <a:off x="5056059" y="22543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r₂=60°</a:t>
            </a:r>
            <a:endParaRPr lang="en-US" sz="1100" dirty="0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0AC77FC5-B51D-EBD3-A233-6C32C751E02A}"/>
              </a:ext>
            </a:extLst>
          </p:cNvPr>
          <p:cNvSpPr/>
          <p:nvPr/>
        </p:nvSpPr>
        <p:spPr>
          <a:xfrm>
            <a:off x="644652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3300"/>
                </a:solidFill>
              </a:rPr>
              <a:t>Normal M₁</a:t>
            </a:r>
            <a:endParaRPr lang="en-US" sz="90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CA899457-42AC-6E71-41A2-6E6809D7FD42}"/>
              </a:ext>
            </a:extLst>
          </p:cNvPr>
          <p:cNvSpPr/>
          <p:nvPr/>
        </p:nvSpPr>
        <p:spPr>
          <a:xfrm>
            <a:off x="548640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</a:rPr>
              <a:t>Normal M₂</a:t>
            </a:r>
            <a:endParaRPr lang="en-US" sz="900" dirty="0"/>
          </a:p>
        </p:txBody>
      </p:sp>
      <p:sp>
        <p:nvSpPr>
          <p:cNvPr id="60" name="Shape 18">
            <a:extLst>
              <a:ext uri="{FF2B5EF4-FFF2-40B4-BE49-F238E27FC236}">
                <a16:creationId xmlns:a16="http://schemas.microsoft.com/office/drawing/2014/main" id="{17E1C780-86C2-766F-0128-090B93D4F712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lstStyle/>
          <a:p>
            <a:endParaRPr lang="fr-DZ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37335433-7BC7-07D4-2A16-6AAE0AFBAC82}"/>
              </a:ext>
            </a:extLst>
          </p:cNvPr>
          <p:cNvSpPr/>
          <p:nvPr/>
        </p:nvSpPr>
        <p:spPr>
          <a:xfrm flipH="1">
            <a:off x="6368413" y="2729133"/>
            <a:ext cx="1861181" cy="1568544"/>
          </a:xfrm>
          <a:prstGeom prst="line">
            <a:avLst/>
          </a:prstGeom>
          <a:noFill/>
          <a:ln w="38100">
            <a:solidFill>
              <a:srgbClr val="FF3300"/>
            </a:solidFill>
            <a:prstDash val="solid"/>
          </a:ln>
          <a:effectLst>
            <a:glow rad="63500">
              <a:srgbClr val="C00000">
                <a:alpha val="55000"/>
              </a:srgbClr>
            </a:glow>
          </a:effectLst>
        </p:spPr>
        <p:txBody>
          <a:bodyPr/>
          <a:lstStyle/>
          <a:p>
            <a:endParaRPr lang="fr-DZ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283C7985-BE02-C714-CDEB-1F6BBEF3BF38}"/>
              </a:ext>
            </a:extLst>
          </p:cNvPr>
          <p:cNvSpPr/>
          <p:nvPr/>
        </p:nvSpPr>
        <p:spPr>
          <a:xfrm>
            <a:off x="6441438" y="359552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300"/>
                </a:solidFill>
              </a:rPr>
              <a:t>i₁=30°</a:t>
            </a:r>
            <a:endParaRPr lang="en-US" sz="1200" dirty="0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61761428-8A18-68BB-9E7D-EAE9412D53DE}"/>
              </a:ext>
            </a:extLst>
          </p:cNvPr>
          <p:cNvSpPr/>
          <p:nvPr/>
        </p:nvSpPr>
        <p:spPr>
          <a:xfrm>
            <a:off x="2677554" y="1912230"/>
            <a:ext cx="1921304" cy="2572898"/>
          </a:xfrm>
          <a:prstGeom prst="rect">
            <a:avLst/>
          </a:prstGeom>
          <a:solidFill>
            <a:srgbClr val="0F0830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EFA8E049-DE08-2C32-4A89-FD3168BB24C8}"/>
              </a:ext>
            </a:extLst>
          </p:cNvPr>
          <p:cNvSpPr/>
          <p:nvPr/>
        </p:nvSpPr>
        <p:spPr>
          <a:xfrm>
            <a:off x="2436590" y="192211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LEGEND</a:t>
            </a:r>
            <a:endParaRPr lang="en-US" sz="1100" dirty="0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14E5D32A-6704-3F85-D0BA-2F025DABD9AC}"/>
              </a:ext>
            </a:extLst>
          </p:cNvPr>
          <p:cNvSpPr/>
          <p:nvPr/>
        </p:nvSpPr>
        <p:spPr>
          <a:xfrm>
            <a:off x="2788920" y="241515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C39A23D5-8723-8ED7-DCD7-782E24B05DB1}"/>
              </a:ext>
            </a:extLst>
          </p:cNvPr>
          <p:cNvSpPr/>
          <p:nvPr/>
        </p:nvSpPr>
        <p:spPr>
          <a:xfrm>
            <a:off x="3337560" y="227799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Incident Ray</a:t>
            </a:r>
            <a:endParaRPr lang="en-US" sz="1100" dirty="0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BA221236-A520-D004-F96F-0964EB479AD5}"/>
              </a:ext>
            </a:extLst>
          </p:cNvPr>
          <p:cNvSpPr/>
          <p:nvPr/>
        </p:nvSpPr>
        <p:spPr>
          <a:xfrm>
            <a:off x="2788920" y="2854062"/>
            <a:ext cx="457200" cy="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5012CF4B-1411-2392-7663-4D1B44994A58}"/>
              </a:ext>
            </a:extLst>
          </p:cNvPr>
          <p:cNvSpPr/>
          <p:nvPr/>
        </p:nvSpPr>
        <p:spPr>
          <a:xfrm>
            <a:off x="3337560" y="271690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Ray on M₁/M₂</a:t>
            </a:r>
            <a:endParaRPr lang="en-US" sz="1100" dirty="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EF34E250-BC05-83EF-DA70-EBC93C50394E}"/>
              </a:ext>
            </a:extLst>
          </p:cNvPr>
          <p:cNvSpPr/>
          <p:nvPr/>
        </p:nvSpPr>
        <p:spPr>
          <a:xfrm>
            <a:off x="2788920" y="3292974"/>
            <a:ext cx="457200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1F9E7ADF-6A06-BCD6-2DD3-738B9CBFAFA8}"/>
              </a:ext>
            </a:extLst>
          </p:cNvPr>
          <p:cNvSpPr/>
          <p:nvPr/>
        </p:nvSpPr>
        <p:spPr>
          <a:xfrm>
            <a:off x="3337560" y="315581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Exit Ray</a:t>
            </a:r>
            <a:endParaRPr lang="en-US" sz="1100" dirty="0"/>
          </a:p>
        </p:txBody>
      </p:sp>
      <p:sp>
        <p:nvSpPr>
          <p:cNvPr id="71" name="Shape 27">
            <a:extLst>
              <a:ext uri="{FF2B5EF4-FFF2-40B4-BE49-F238E27FC236}">
                <a16:creationId xmlns:a16="http://schemas.microsoft.com/office/drawing/2014/main" id="{67DB794C-B35B-C40D-673C-A9BD9942DAB6}"/>
              </a:ext>
            </a:extLst>
          </p:cNvPr>
          <p:cNvSpPr/>
          <p:nvPr/>
        </p:nvSpPr>
        <p:spPr>
          <a:xfrm>
            <a:off x="2788920" y="3731886"/>
            <a:ext cx="45720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35FAC015-7A46-183D-C210-9114B65CF9DA}"/>
              </a:ext>
            </a:extLst>
          </p:cNvPr>
          <p:cNvSpPr/>
          <p:nvPr/>
        </p:nvSpPr>
        <p:spPr>
          <a:xfrm>
            <a:off x="3337560" y="359472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Mirrors (M₁, M₂)</a:t>
            </a:r>
            <a:endParaRPr lang="en-US" sz="1100" dirty="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B65FD581-43AB-F26C-B617-14BD7997A9D4}"/>
              </a:ext>
            </a:extLst>
          </p:cNvPr>
          <p:cNvSpPr/>
          <p:nvPr/>
        </p:nvSpPr>
        <p:spPr>
          <a:xfrm>
            <a:off x="2788920" y="4170798"/>
            <a:ext cx="4572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354D665E-11D3-8345-F610-ACD56E1E8BD0}"/>
              </a:ext>
            </a:extLst>
          </p:cNvPr>
          <p:cNvSpPr/>
          <p:nvPr/>
        </p:nvSpPr>
        <p:spPr>
          <a:xfrm>
            <a:off x="3337560" y="403363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Normals (dashed)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498507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Shape 19"/>
          <p:cNvSpPr/>
          <p:nvPr/>
        </p:nvSpPr>
        <p:spPr>
          <a:xfrm>
            <a:off x="320040" y="20116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2" name="Text 20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Mathematical Proof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CA3AF"/>
                </a:solidFill>
              </a:rPr>
              <a:t>Prove: the final exiting ray is parallel to the original but travels in the opposite direction.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1298448"/>
            <a:ext cx="2743200" cy="352044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6" name="Shape 24"/>
          <p:cNvSpPr/>
          <p:nvPr/>
        </p:nvSpPr>
        <p:spPr>
          <a:xfrm>
            <a:off x="365760" y="1298448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7" name="Text 25"/>
          <p:cNvSpPr/>
          <p:nvPr/>
        </p:nvSpPr>
        <p:spPr>
          <a:xfrm>
            <a:off x="36576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B1E"/>
                </a:solidFill>
              </a:rPr>
              <a:t>Step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17373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Total deviation at M₁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Angles sum in triangle with Normal: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→  i₁ + r₁ + α = 180°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→  α = 180° − 60° = 120°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1298448"/>
            <a:ext cx="2743200" cy="352044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0" name="Shape 28"/>
          <p:cNvSpPr/>
          <p:nvPr/>
        </p:nvSpPr>
        <p:spPr>
          <a:xfrm>
            <a:off x="3246120" y="1298448"/>
            <a:ext cx="274320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1" name="Text 29"/>
          <p:cNvSpPr/>
          <p:nvPr/>
        </p:nvSpPr>
        <p:spPr>
          <a:xfrm>
            <a:off x="324612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B1E"/>
                </a:solidFill>
              </a:rPr>
              <a:t>Step 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17373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Total deviation at M₂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Same logic at right-angle corner: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→  i₂ + r₂ + β = 180°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→  β = 180° − 120° = 60°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1298448"/>
            <a:ext cx="2743200" cy="352044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4" name="Shape 32"/>
          <p:cNvSpPr/>
          <p:nvPr/>
        </p:nvSpPr>
        <p:spPr>
          <a:xfrm>
            <a:off x="6126480" y="1298448"/>
            <a:ext cx="27432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5" name="Text 33"/>
          <p:cNvSpPr/>
          <p:nvPr/>
        </p:nvSpPr>
        <p:spPr>
          <a:xfrm>
            <a:off x="612648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B1E"/>
                </a:solidFill>
              </a:rPr>
              <a:t>Result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17373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Total angular deviation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Total = α + β = 120° + 60° = 180°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D9F3"/>
                </a:solidFill>
              </a:rPr>
              <a:t>→  Final ray is anti-parallel 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A0A3D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∴  A corner reflector always returns the beam anti-parallel to the incident ray — regardless of i₁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0187C-2EBC-E9BD-AF32-84B9C389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614740-9CC0-2C9C-197A-BA46E29A161E}"/>
              </a:ext>
            </a:extLst>
          </p:cNvPr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18115C-8600-080B-CAB4-F22D040578BC}"/>
              </a:ext>
            </a:extLst>
          </p:cNvPr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F9B0E8-F843-9406-023A-B711888F620A}"/>
              </a:ext>
            </a:extLst>
          </p:cNvPr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839825-9499-C93D-E0F4-912506DD8480}"/>
              </a:ext>
            </a:extLst>
          </p:cNvPr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D9B7A05-0234-2DB5-2B16-C8D4D62A8BB6}"/>
              </a:ext>
            </a:extLst>
          </p:cNvPr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C280B9-B430-DD06-0435-FE04B1319603}"/>
              </a:ext>
            </a:extLst>
          </p:cNvPr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0302FF2-A5EE-CA84-6061-11EF50A9CF17}"/>
              </a:ext>
            </a:extLst>
          </p:cNvPr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9036C5-6453-AD24-9612-5D6D9EEA6FB2}"/>
              </a:ext>
            </a:extLst>
          </p:cNvPr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060CE8D-A935-47C9-821C-B64DFCEFD7A0}"/>
              </a:ext>
            </a:extLst>
          </p:cNvPr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CFC6EFD-3C23-6D28-9D77-50F9F9460013}"/>
              </a:ext>
            </a:extLst>
          </p:cNvPr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F2EEB7-88F7-6937-FBEB-B74348C641C4}"/>
              </a:ext>
            </a:extLst>
          </p:cNvPr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695C0F1-4376-A6BC-CCC5-860A985F20BC}"/>
              </a:ext>
            </a:extLst>
          </p:cNvPr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F84CE41-4CCB-FB84-37AD-122B07DBCCE4}"/>
              </a:ext>
            </a:extLst>
          </p:cNvPr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013C972-AC61-35BD-577A-7830847516F4}"/>
              </a:ext>
            </a:extLst>
          </p:cNvPr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2059DA2-35D8-EB4B-0CFE-0A3DD10AB134}"/>
              </a:ext>
            </a:extLst>
          </p:cNvPr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27C6BA3-0CE2-9B1E-C087-881417B40192}"/>
              </a:ext>
            </a:extLst>
          </p:cNvPr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DCB2E59-01D8-17EC-EAD9-54BB9C638F81}"/>
              </a:ext>
            </a:extLst>
          </p:cNvPr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54EB49A-CF42-48E4-B34A-F4B11149670B}"/>
              </a:ext>
            </a:extLst>
          </p:cNvPr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F1077DF-4A86-E62C-2393-EF3627A7971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0BBE7A-B5F7-4CBD-3D17-6DCBFAF1E225}"/>
              </a:ext>
            </a:extLst>
          </p:cNvPr>
          <p:cNvSpPr/>
          <p:nvPr/>
        </p:nvSpPr>
        <p:spPr>
          <a:xfrm>
            <a:off x="320040" y="20116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CD837BC-6011-0A55-169A-19823CB95905}"/>
              </a:ext>
            </a:extLst>
          </p:cNvPr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372D7E0-BE97-A3BD-D114-05CB0806F177}"/>
              </a:ext>
            </a:extLst>
          </p:cNvPr>
          <p:cNvSpPr/>
          <p:nvPr/>
        </p:nvSpPr>
        <p:spPr>
          <a:xfrm>
            <a:off x="822960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</a:rPr>
              <a:t>Visualisation</a:t>
            </a:r>
            <a:endParaRPr lang="en-US" sz="3000" b="1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D9D12B-53C6-69A9-E3E4-8164285E96F7}"/>
              </a:ext>
            </a:extLst>
          </p:cNvPr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F45F3E6-88D4-DDB4-8156-8F520F38F348}"/>
              </a:ext>
            </a:extLst>
          </p:cNvPr>
          <p:cNvSpPr/>
          <p:nvPr/>
        </p:nvSpPr>
        <p:spPr>
          <a:xfrm>
            <a:off x="612648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B1E"/>
                </a:solidFill>
              </a:rPr>
              <a:t>Result</a:t>
            </a:r>
            <a:endParaRPr lang="en-US" sz="1300" dirty="0"/>
          </a:p>
        </p:txBody>
      </p:sp>
      <p:pic>
        <p:nvPicPr>
          <p:cNvPr id="39" name="laiser (1)">
            <a:hlinkClick r:id="" action="ppaction://media"/>
            <a:extLst>
              <a:ext uri="{FF2B5EF4-FFF2-40B4-BE49-F238E27FC236}">
                <a16:creationId xmlns:a16="http://schemas.microsoft.com/office/drawing/2014/main" id="{A973F649-C1A2-EEE6-D6E0-FAA8366ABC7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98373" y="1060705"/>
            <a:ext cx="4842507" cy="363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45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3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Text 19"/>
          <p:cNvSpPr/>
          <p:nvPr/>
        </p:nvSpPr>
        <p:spPr>
          <a:xfrm>
            <a:off x="274320" y="16459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 Applications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CA3AF"/>
                </a:solidFill>
              </a:rPr>
              <a:t>Where does the Law of Reflection actually matter?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56032" y="1078992"/>
            <a:ext cx="2816352" cy="3913632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4" name="Shape 22"/>
          <p:cNvSpPr/>
          <p:nvPr/>
        </p:nvSpPr>
        <p:spPr>
          <a:xfrm>
            <a:off x="256032" y="1078992"/>
            <a:ext cx="2816352" cy="8229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188720"/>
            <a:ext cx="2670048" cy="1874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47472" y="30906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Lunar Laser Ranging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47472" y="3456432"/>
            <a:ext cx="2633472" cy="256032"/>
          </a:xfrm>
          <a:prstGeom prst="roundRect">
            <a:avLst>
              <a:gd name="adj" fmla="val 21429"/>
            </a:avLst>
          </a:prstGeom>
          <a:solidFill>
            <a:srgbClr val="0F083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8" name="Text 25"/>
          <p:cNvSpPr/>
          <p:nvPr/>
        </p:nvSpPr>
        <p:spPr>
          <a:xfrm>
            <a:off x="347472" y="34564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</a:rPr>
              <a:t>🌕  NASA / Astronomy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47472" y="3749040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D9F3"/>
                </a:solidFill>
              </a:rPr>
              <a:t>Corner reflectors placed on the Moon by Apollo missions bounce laser beams back to Earth — measuring the exact Earth-Moon distance to within 1mm.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00400" y="1078992"/>
            <a:ext cx="2816352" cy="3913632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1" name="Shape 28"/>
          <p:cNvSpPr/>
          <p:nvPr/>
        </p:nvSpPr>
        <p:spPr>
          <a:xfrm>
            <a:off x="3200400" y="1078992"/>
            <a:ext cx="2816352" cy="82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188720"/>
            <a:ext cx="2670048" cy="18745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291840" y="30906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Security Systems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3291840" y="3456432"/>
            <a:ext cx="2633472" cy="256032"/>
          </a:xfrm>
          <a:prstGeom prst="roundRect">
            <a:avLst>
              <a:gd name="adj" fmla="val 21429"/>
            </a:avLst>
          </a:prstGeom>
          <a:solidFill>
            <a:srgbClr val="0F083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5" name="Text 31"/>
          <p:cNvSpPr/>
          <p:nvPr/>
        </p:nvSpPr>
        <p:spPr>
          <a:xfrm>
            <a:off x="3291840" y="34564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🔐  Surveillance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291840" y="3749040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D9F3"/>
                </a:solidFill>
              </a:rPr>
              <a:t>Plane mirrors redirect laser beams around obstacles to protect vaults and rooms. If the beam is broken, an alarm is triggered instantly.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144768" y="1078992"/>
            <a:ext cx="2816352" cy="3913632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8" name="Shape 34"/>
          <p:cNvSpPr/>
          <p:nvPr/>
        </p:nvSpPr>
        <p:spPr>
          <a:xfrm>
            <a:off x="6144768" y="1078992"/>
            <a:ext cx="2816352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188720"/>
            <a:ext cx="2670048" cy="18745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236208" y="30906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Laser Leveling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6236208" y="3456432"/>
            <a:ext cx="2633472" cy="256032"/>
          </a:xfrm>
          <a:prstGeom prst="roundRect">
            <a:avLst>
              <a:gd name="adj" fmla="val 21429"/>
            </a:avLst>
          </a:prstGeom>
          <a:solidFill>
            <a:srgbClr val="0F083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2" name="Text 37"/>
          <p:cNvSpPr/>
          <p:nvPr/>
        </p:nvSpPr>
        <p:spPr>
          <a:xfrm>
            <a:off x="6236208" y="34564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🏗️  Construction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236208" y="3749040"/>
            <a:ext cx="2633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2D9F3"/>
                </a:solidFill>
              </a:rPr>
              <a:t>Laser levels use plane mirrors to project a perfectly horizontal or vertical reference beam across entire buildings and construction sites.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2D1F5E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1" name="Text 19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4069080" cy="187452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3" name="Shape 21"/>
          <p:cNvSpPr/>
          <p:nvPr/>
        </p:nvSpPr>
        <p:spPr>
          <a:xfrm>
            <a:off x="365760" y="1005840"/>
            <a:ext cx="406908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4" name="Shape 22"/>
          <p:cNvSpPr/>
          <p:nvPr/>
        </p:nvSpPr>
        <p:spPr>
          <a:xfrm>
            <a:off x="548640" y="1207008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5" name="Text 23"/>
          <p:cNvSpPr/>
          <p:nvPr/>
        </p:nvSpPr>
        <p:spPr>
          <a:xfrm>
            <a:off x="54864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B1E"/>
                </a:solidFill>
              </a:rPr>
              <a:t>Q1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Law of Reflection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175564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θᵢ = θᵣ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709160" y="1005840"/>
            <a:ext cx="4069080" cy="187452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0690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0" name="Shape 28"/>
          <p:cNvSpPr/>
          <p:nvPr/>
        </p:nvSpPr>
        <p:spPr>
          <a:xfrm>
            <a:off x="4892040" y="12070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1" name="Text 29"/>
          <p:cNvSpPr/>
          <p:nvPr/>
        </p:nvSpPr>
        <p:spPr>
          <a:xfrm>
            <a:off x="489204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B1E"/>
                </a:solidFill>
              </a:rPr>
              <a:t>Q2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Reflection on M₁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175564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r₁ = 30°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365760" y="3108960"/>
            <a:ext cx="4069080" cy="187452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5" name="Shape 33"/>
          <p:cNvSpPr/>
          <p:nvPr/>
        </p:nvSpPr>
        <p:spPr>
          <a:xfrm>
            <a:off x="365760" y="3108960"/>
            <a:ext cx="406908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6" name="Shape 34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37" name="Text 35"/>
          <p:cNvSpPr/>
          <p:nvPr/>
        </p:nvSpPr>
        <p:spPr>
          <a:xfrm>
            <a:off x="5486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B1E"/>
                </a:solidFill>
              </a:rPr>
              <a:t>Q3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Reflection on M₂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38587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i₂ = r₂ = 60°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4709160" y="3108960"/>
            <a:ext cx="4069080" cy="1874520"/>
          </a:xfrm>
          <a:prstGeom prst="rect">
            <a:avLst/>
          </a:prstGeom>
          <a:solidFill>
            <a:srgbClr val="1E1550"/>
          </a:solidFill>
          <a:ln w="12700">
            <a:solidFill>
              <a:srgbClr val="3D2D7A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1" name="Shape 39"/>
          <p:cNvSpPr/>
          <p:nvPr/>
        </p:nvSpPr>
        <p:spPr>
          <a:xfrm>
            <a:off x="4709160" y="3108960"/>
            <a:ext cx="406908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2" name="Shape 40"/>
          <p:cNvSpPr/>
          <p:nvPr/>
        </p:nvSpPr>
        <p:spPr>
          <a:xfrm>
            <a:off x="4892040" y="3310128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3" name="Text 41"/>
          <p:cNvSpPr/>
          <p:nvPr/>
        </p:nvSpPr>
        <p:spPr>
          <a:xfrm>
            <a:off x="48920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B1E"/>
                </a:solidFill>
              </a:rPr>
              <a:t>Q4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 Proof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92040" y="38587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180° anti-parallel</a:t>
            </a:r>
            <a:endParaRPr lang="en-US" sz="260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F0830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fr-DZ"/>
          </a:p>
        </p:txBody>
      </p:sp>
      <p:sp>
        <p:nvSpPr>
          <p:cNvPr id="47" name="Text 4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Corner Reflector → beam always returns anti-parallel  ·  Track 1: The Laser Grid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825</Words>
  <Application>Microsoft Office PowerPoint</Application>
  <PresentationFormat>Affichage à l'écran (16:9)</PresentationFormat>
  <Paragraphs>157</Paragraphs>
  <Slides>10</Slides>
  <Notes>10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1 – The Laser Grid</dc:title>
  <dc:subject>PptxGenJS Presentation</dc:subject>
  <dc:creator>PptxGenJS</dc:creator>
  <cp:lastModifiedBy>rami medkour</cp:lastModifiedBy>
  <cp:revision>3</cp:revision>
  <dcterms:created xsi:type="dcterms:W3CDTF">2026-03-01T23:15:46Z</dcterms:created>
  <dcterms:modified xsi:type="dcterms:W3CDTF">2026-03-06T16:50:41Z</dcterms:modified>
</cp:coreProperties>
</file>